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246bbea9ba41d7" /><Relationship Type="http://schemas.openxmlformats.org/officeDocument/2006/relationships/extended-properties" Target="/docProps/app.xml" Id="R18618114074c480e" /><Relationship Type="http://schemas.openxmlformats.org/officeDocument/2006/relationships/officeDocument" Target="/ppt/presentation.xml" Id="R9aa3ccd5aa81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f2b06396741f0"/>
  </p:sldMasterIdLst>
  <p:notesMasterIdLst>
    <p:notesMasterId xmlns:r="http://schemas.openxmlformats.org/officeDocument/2006/relationships" r:id="R3722e9691dd14ad0"/>
  </p:notesMasterIdLst>
  <p:sldIdLst>
    <p:sldId xmlns:r="http://schemas.openxmlformats.org/officeDocument/2006/relationships" id="256" r:id="R556f9500118e45cb"/>
    <p:sldId xmlns:r="http://schemas.openxmlformats.org/officeDocument/2006/relationships" id="257" r:id="R31816c84780945d8"/>
    <p:sldId xmlns:r="http://schemas.openxmlformats.org/officeDocument/2006/relationships" id="258" r:id="R000f05577beb4bba"/>
    <p:sldId xmlns:r="http://schemas.openxmlformats.org/officeDocument/2006/relationships" id="259" r:id="R197b1b978eba4539"/>
    <p:sldId xmlns:r="http://schemas.openxmlformats.org/officeDocument/2006/relationships" id="260" r:id="R9c34478827864cab"/>
    <p:sldId xmlns:r="http://schemas.openxmlformats.org/officeDocument/2006/relationships" id="261" r:id="Rfd5ee96fb7814b4a"/>
    <p:sldId xmlns:r="http://schemas.openxmlformats.org/officeDocument/2006/relationships" id="262" r:id="Rce02dffede1e4e5b"/>
    <p:sldId xmlns:r="http://schemas.openxmlformats.org/officeDocument/2006/relationships" id="263" r:id="R29d63d7f7d684538"/>
    <p:sldId xmlns:r="http://schemas.openxmlformats.org/officeDocument/2006/relationships" id="264" r:id="R3fca48b5eb8b45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5747b7e68411d" /><Relationship Type="http://schemas.openxmlformats.org/officeDocument/2006/relationships/slideMaster" Target="/ppt/slideMasters/slideMaster1.xml" Id="R753f2b06396741f0" /><Relationship Type="http://schemas.openxmlformats.org/officeDocument/2006/relationships/notesMaster" Target="/ppt/notesMasters/notesMaster1.xml" Id="R3722e9691dd14ad0" /><Relationship Type="http://schemas.openxmlformats.org/officeDocument/2006/relationships/presProps" Target="/ppt/presProps.xml" Id="R96f8da8ae899405a" /><Relationship Type="http://schemas.openxmlformats.org/officeDocument/2006/relationships/tableStyles" Target="/ppt/tableStyles.xml" Id="R893226a7a85044ab" /><Relationship Type="http://schemas.openxmlformats.org/officeDocument/2006/relationships/slide" Target="/ppt/slides/slide1.xml" Id="R556f9500118e45cb" /><Relationship Type="http://schemas.openxmlformats.org/officeDocument/2006/relationships/slide" Target="/ppt/slides/slide2.xml" Id="R31816c84780945d8" /><Relationship Type="http://schemas.openxmlformats.org/officeDocument/2006/relationships/slide" Target="/ppt/slides/slide3.xml" Id="R000f05577beb4bba" /><Relationship Type="http://schemas.openxmlformats.org/officeDocument/2006/relationships/slide" Target="/ppt/slides/slide4.xml" Id="R197b1b978eba4539" /><Relationship Type="http://schemas.openxmlformats.org/officeDocument/2006/relationships/slide" Target="/ppt/slides/slide5.xml" Id="R9c34478827864cab" /><Relationship Type="http://schemas.openxmlformats.org/officeDocument/2006/relationships/slide" Target="/ppt/slides/slide6.xml" Id="Rfd5ee96fb7814b4a" /><Relationship Type="http://schemas.openxmlformats.org/officeDocument/2006/relationships/slide" Target="/ppt/slides/slide7.xml" Id="Rce02dffede1e4e5b" /><Relationship Type="http://schemas.openxmlformats.org/officeDocument/2006/relationships/slide" Target="/ppt/slides/slide8.xml" Id="R29d63d7f7d684538" /><Relationship Type="http://schemas.openxmlformats.org/officeDocument/2006/relationships/slide" Target="/ppt/slides/slide9.xml" Id="R3fca48b5eb8b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82fb6444240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7ec1921c54fca" /><Relationship Type="http://schemas.openxmlformats.org/officeDocument/2006/relationships/notesMaster" Target="/ppt/notesMasters/notesMaster1.xml" Id="R442f16ac8741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ff0dc449d42a7" /><Relationship Type="http://schemas.openxmlformats.org/officeDocument/2006/relationships/notesMaster" Target="/ppt/notesMasters/notesMaster1.xml" Id="R8460aa9f98d94f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e9aa2296e640a2" /><Relationship Type="http://schemas.openxmlformats.org/officeDocument/2006/relationships/notesMaster" Target="/ppt/notesMasters/notesMaster1.xml" Id="R9db61d2e873f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c0426ae9fd4bfa" /><Relationship Type="http://schemas.openxmlformats.org/officeDocument/2006/relationships/notesMaster" Target="/ppt/notesMasters/notesMaster1.xml" Id="R5eadd4c7088544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15fa666c7e464f" /><Relationship Type="http://schemas.openxmlformats.org/officeDocument/2006/relationships/notesMaster" Target="/ppt/notesMasters/notesMaster1.xml" Id="R531d9998ed4b47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815418d08e4b56" /><Relationship Type="http://schemas.openxmlformats.org/officeDocument/2006/relationships/notesMaster" Target="/ppt/notesMasters/notesMaster1.xml" Id="Raa8231fdc36c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d0f22fc84b4798" /><Relationship Type="http://schemas.openxmlformats.org/officeDocument/2006/relationships/notesMaster" Target="/ppt/notesMasters/notesMaster1.xml" Id="R92d57e272423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9a31d26a743dc" /><Relationship Type="http://schemas.openxmlformats.org/officeDocument/2006/relationships/notesMaster" Target="/ppt/notesMasters/notesMaster1.xml" Id="R9b8ad97d7c4d40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c4f997deb4486e" /><Relationship Type="http://schemas.openxmlformats.org/officeDocument/2006/relationships/notesMaster" Target="/ppt/notesMasters/notesMaster1.xml" Id="Ra1edbc42a77848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本页为汇报封面，无外部图像素材。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FAVOUR 论文第3-4页，第III-B、IV-A、IV-B节。</a:t>
            </a:r>
          </a:p>
          <a:p xmlns:a="http://schemas.openxmlformats.org/drawingml/2006/main">
            <a:r>
              <a:t>Preference-Aware 论文第9-12页，第3.2.2和3.3.1节。</a:t>
            </a:r>
          </a:p>
          <a:p xmlns:a="http://schemas.openxmlformats.org/drawingml/2006/main">
            <a:r>
              <a:t>杨敏等，清华大学学报（自然科学版），2022，62(7)：1220-1227。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FAVOUR 论文第3-4页，第III-B、IV-A、IV-B节，公式(3)、(4)、(6)。</a:t>
            </a:r>
          </a:p>
          <a:p xmlns:a="http://schemas.openxmlformats.org/drawingml/2006/main">
            <a:r>
              <a:t>公式图片由已核对的论文公式渲染为 PNG 后插入。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Preference-Aware 论文第9-12页，第3.2.2、3.3.1节，公式(1)、(3)、(6)、(7)。</a:t>
            </a:r>
          </a:p>
          <a:p xmlns:a="http://schemas.openxmlformats.org/drawingml/2006/main">
            <a:r>
              <a:t>公式图片由论文公式渲染为 PNG 后插入。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杨敏、李宏伟、任怡凤、张聪伟：基于旅客异质性画像的公铁联程出行方案推荐方法，2022。</a:t>
            </a:r>
          </a:p>
          <a:p xmlns:a="http://schemas.openxmlformats.org/drawingml/2006/main">
            <a:r>
              <a:t>论文第2.1、2.2节，公式(1)-(6)。</a:t>
            </a:r>
          </a:p>
          <a:p xmlns:a="http://schemas.openxmlformats.org/drawingml/2006/main">
            <a:r>
              <a:t>公式图片由论文公式渲染为 PNG 后插入。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FAVOUR、Preference-Aware 与杨敏等三篇论文的综合设计映射。</a:t>
            </a:r>
          </a:p>
          <a:p xmlns:a="http://schemas.openxmlformats.org/drawingml/2006/main">
            <a:r>
              <a:t>当前项目范围由 examples/interactive_profile_demo.py 文件头注释确认。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CodeGraph 查询：main -&gt; run_interactive -&gt; _ask_preference -&gt; _print_result -&gt; learner.fit。</a:t>
            </a:r>
          </a:p>
          <a:p xmlns:a="http://schemas.openxmlformats.org/drawingml/2006/main">
            <a:r>
              <a:t>examples/interactive_profile_demo.py:62,112,138,166,194。</a:t>
            </a:r>
          </a:p>
          <a:p xmlns:a="http://schemas.openxmlformats.org/drawingml/2006/main">
            <a:r>
              <a:t>src/profile/learner.py:72；src/profile/normalization.py:65；src/profile/optimization.py:13,23,31。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src/profile/normalization.py:65-70。</a:t>
            </a:r>
          </a:p>
          <a:p xmlns:a="http://schemas.openxmlformats.org/drawingml/2006/main">
            <a:r>
              <a:t>src/profile/learner.py:72 起的差向量、Logit 损失和投影梯度下降实现。</a:t>
            </a:r>
          </a:p>
          <a:p xmlns:a="http://schemas.openxmlformats.org/drawingml/2006/main">
            <a:r>
              <a:t>公式图片由当前代码公式渲染为 PNG 后插入。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tests/profile/test_interactive_profile_demo.py：2项端到端测试。</a:t>
            </a:r>
          </a:p>
          <a:p xmlns:a="http://schemas.openxmlformats.org/drawingml/2006/main">
            <a:r>
              <a:t>examples/interactive_profile_demo.py 使用 B,A,A,A,A,A 的实际输出。</a:t>
            </a:r>
          </a:p>
          <a:p xmlns:a="http://schemas.openxmlformats.org/drawingml/2006/main">
            <a:r>
              <a:t>测试结果：2 tests passed；费用权重 38.14%，为最高值。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2ee03cc1c41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03911e22f4856" /><Relationship Type="http://schemas.openxmlformats.org/officeDocument/2006/relationships/slideLayout" Target="/ppt/slideLayouts/slideLayout1.xml" Id="Rb264904ff6a249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64904ff6a249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561c30bc4575" /><Relationship Type="http://schemas.openxmlformats.org/officeDocument/2006/relationships/notesSlide" Target="/ppt/notesSlides/notesSlide1.xml" Id="R7bc7f908cd7149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a5774b49a4f27" /><Relationship Type="http://schemas.openxmlformats.org/officeDocument/2006/relationships/notesSlide" Target="/ppt/notesSlides/notesSlide2.xml" Id="R3785b549005e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e31b6d9154525" /><Relationship Type="http://schemas.openxmlformats.org/officeDocument/2006/relationships/image" Target="/ppt/media/image.png" Id="R2545c3a505814d14" /><Relationship Type="http://schemas.openxmlformats.org/officeDocument/2006/relationships/image" Target="/ppt/media/image2.png" Id="Rfb73ee8d1dbe4e69" /><Relationship Type="http://schemas.openxmlformats.org/officeDocument/2006/relationships/notesSlide" Target="/ppt/notesSlides/notesSlide3.xml" Id="Rf8247b4367b5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d5e10373243bc" /><Relationship Type="http://schemas.openxmlformats.org/officeDocument/2006/relationships/image" Target="/ppt/media/image3.png" Id="Rb22bd703582247eb" /><Relationship Type="http://schemas.openxmlformats.org/officeDocument/2006/relationships/image" Target="/ppt/media/image4.png" Id="Rc02c7d96357c4f8a" /><Relationship Type="http://schemas.openxmlformats.org/officeDocument/2006/relationships/image" Target="/ppt/media/image5.png" Id="Rb81edeab5f5c4ba5" /><Relationship Type="http://schemas.openxmlformats.org/officeDocument/2006/relationships/notesSlide" Target="/ppt/notesSlides/notesSlide4.xml" Id="R9b05bd82ad7c46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7c020e2044d53" /><Relationship Type="http://schemas.openxmlformats.org/officeDocument/2006/relationships/image" Target="/ppt/media/image6.png" Id="Rec806d2cdff94fa9" /><Relationship Type="http://schemas.openxmlformats.org/officeDocument/2006/relationships/image" Target="/ppt/media/image7.png" Id="R100d7d01a27e4cb4" /><Relationship Type="http://schemas.openxmlformats.org/officeDocument/2006/relationships/notesSlide" Target="/ppt/notesSlides/notesSlide5.xml" Id="R2e16eaf6568547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0313fb66c44f9" /><Relationship Type="http://schemas.openxmlformats.org/officeDocument/2006/relationships/notesSlide" Target="/ppt/notesSlides/notesSlide6.xml" Id="R7a00e9b3478842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0e5aeeb324e62" /><Relationship Type="http://schemas.openxmlformats.org/officeDocument/2006/relationships/notesSlide" Target="/ppt/notesSlides/notesSlide7.xml" Id="R5c96c60c8db7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f374c2d444135" /><Relationship Type="http://schemas.openxmlformats.org/officeDocument/2006/relationships/image" Target="/ppt/media/image8.png" Id="R0b4112a329554083" /><Relationship Type="http://schemas.openxmlformats.org/officeDocument/2006/relationships/image" Target="/ppt/media/image9.png" Id="Ra256292155cd4a9a" /><Relationship Type="http://schemas.openxmlformats.org/officeDocument/2006/relationships/image" Target="/ppt/media/image10.png" Id="R06cf431b99c941c7" /><Relationship Type="http://schemas.openxmlformats.org/officeDocument/2006/relationships/image" Target="/ppt/media/image11.png" Id="R59de687f128a4df1" /><Relationship Type="http://schemas.openxmlformats.org/officeDocument/2006/relationships/notesSlide" Target="/ppt/notesSlides/notesSlide8.xml" Id="R3e7acc8d015c42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e694918d34223" /><Relationship Type="http://schemas.openxmlformats.org/officeDocument/2006/relationships/notesSlide" Target="/ppt/notesSlides/notesSlide9.xml" Id="R3582b3e6c98d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9D10C-8255-459D-B30E-9E97381A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C905CE-0F9E-4528-8673-4727A90F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用户画像构建：论文依据与第一版实现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E7B87-A708-4D25-8303-8260AC14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长期偏好权重学习｜组会汇报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58D95-76D0-40CD-9C27-011E151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B6B"/>
                </a:solidFill>
              </a:defRPr>
            </a:pPr>
            <a:r>
              <a:rPr sz="1650" b="0">
                <a:solidFill>
                  <a:srgbClr val="6B6B6B"/>
                </a:solidFill>
              </a:rPr>
              <a:t>时间 · 费用 · 步行距离 · 换乘次数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DE7F7-4064-459E-BC44-EFE1780B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B"/>
                </a:solidFill>
              </a:defRPr>
            </a:pPr>
            <a:r>
              <a:rPr sz="1275" b="0">
                <a:solidFill>
                  <a:srgbClr val="6B6B6B"/>
                </a:solidFill>
              </a:rPr>
              <a:t>基于已阅读论文与当前项目代码整理</a:t>
            </a:r>
          </a:p>
        </p:txBody>
      </p:sp>
    </p:spTree>
    <p:extLst>
      <p:ext uri="{BB962C8B-B14F-4D97-AF65-F5344CB8AC3E}">
        <p14:creationId xmlns:p14="http://schemas.microsoft.com/office/powerpoint/2010/main" val="1969570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EE0365A-08CF-43C4-BB8B-229A500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三篇论文分别解决三个关键问题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5150C-70EE-41A0-83F1-F4DF9278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0C97D-EA63-4F81-8ABE-836A269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A551B-6EC4-43B4-82A0-4A33582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7EBD1-CFBB-40D8-85CF-C7B17FB6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FAVOUR（2017）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5E713-C8F1-432C-891E-65B28D3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用户说不清具体权重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65E7D-7DA4-4D19-8573-54AC35D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用路线成对选择学习个人偏好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4C129-C59E-4A37-992B-F410FCA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8B361-5BC8-416B-8C61-88FA6DB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Preference-Aware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（2026）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29FDA-7B6B-4117-9094-4F787F5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时间、费用等单位不可直接比较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99513-FBA7-420F-997C-FD1F18B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归一化后加权评价，并从评价反推权重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3F317-A68E-4AA6-8A72-355FAD9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A3AC8-B5D3-43D2-8671-D2A935B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杨敏等（2022）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18323-B6CD-4E89-9FF5-1A39417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433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画像怎样真正影响推荐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27590-7A68-4827-A4DA-03E198E9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让时间、费用敏感性进入推荐目标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84F68-6441-4B86-B0BC-BB246D7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共同结论：用户画像必须是能够参与路线计算的参数，而不只是标签。</a:t>
            </a:r>
          </a:p>
        </p:txBody>
      </p:sp>
    </p:spTree>
    <p:extLst>
      <p:ext uri="{BB962C8B-B14F-4D97-AF65-F5344CB8AC3E}">
        <p14:creationId xmlns:p14="http://schemas.microsoft.com/office/powerpoint/2010/main" val="1553599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4CAA178-0702-48D3-A17B-112017F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FAVOUR：从路线选择学习用户画像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E0615-7B72-4916-8A5D-882062D3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CEF2F-C745-40B5-9D71-01DB703D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0EC4D-9019-4D3E-B844-FA85B982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C62B-9B84-414A-9BBF-CA5D2DA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91623-E094-46AD-B1C8-9F225C1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44574-469D-4136-8627-6F9671C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群体先验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08CA5-F55E-4DAF-82F7-DB33648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新用户先采用群体偏好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D5EEB-58BE-40DD-BDFA-C539039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217E-EA58-4635-AB2B-515B4971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C04A8-154C-49B9-8A62-F0644CE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路线比较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B6B00-F17E-45EE-A23D-1E1A7E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回答“更喜欢 A 还是 B”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1DB68-4594-4036-B272-D1E781B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4CD7B-DCE6-4672-9DFF-0F2B1707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9B685-5AF6-4C36-8161-0F5172D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持续更新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C2BAD-B3AE-4377-B77E-12497F07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用真实选择继续修正画像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19AF1-9AA2-4F2B-9256-30EC50A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用户画像就是效用函数中的偏好参数 w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5c3a505814d14"/>
          <a:stretch xmlns:a="http://schemas.openxmlformats.org/drawingml/2006/main"/>
        </p:blipFill>
        <p:spPr>
          <a:xfrm xmlns:a="http://schemas.openxmlformats.org/drawingml/2006/main">
            <a:off x="5905500" y="1974342"/>
            <a:ext cx="5143500" cy="699516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3ee8d1dbe4e69"/>
          <a:stretch xmlns:a="http://schemas.openxmlformats.org/drawingml/2006/main"/>
        </p:blipFill>
        <p:spPr>
          <a:xfrm xmlns:a="http://schemas.openxmlformats.org/drawingml/2006/main">
            <a:off x="5619750" y="3263746"/>
            <a:ext cx="5810250" cy="654358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A8D47-B91A-4C09-9761-45B212D9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9625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项目当前主要采用第 2 步：让用户比较路线，再用成对 Logit 反推权重。</a:t>
            </a:r>
          </a:p>
        </p:txBody>
      </p:sp>
    </p:spTree>
    <p:extLst>
      <p:ext uri="{BB962C8B-B14F-4D97-AF65-F5344CB8AC3E}">
        <p14:creationId xmlns:p14="http://schemas.microsoft.com/office/powerpoint/2010/main" val="1703017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722EFDD-C1D4-4446-8579-18F9C1DA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Preference-Aware：统一尺度后，再反推权重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6CE6D-77AB-4B54-B7E1-7087CD4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4C561-8F13-446D-9C9A-FAE01A11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2F81-FAF4-407E-B60B-0115CE93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4307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4BB3B-432D-41F3-900D-A0AA7713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4307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A4B78-D994-4A70-8D34-D4FC60A8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2571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路线属性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151B3-7C6F-4912-BB89-2BD39F6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81125"/>
            <a:ext cx="3333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加权计算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路线评价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535A1-AB69-4471-BB3B-6435252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81125"/>
            <a:ext cx="2762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根据用户评价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逆向估计权重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bd703582247eb"/>
          <a:stretch xmlns:a="http://schemas.openxmlformats.org/drawingml/2006/main"/>
        </p:blipFill>
        <p:spPr>
          <a:xfrm xmlns:a="http://schemas.openxmlformats.org/drawingml/2006/main">
            <a:off x="852339" y="2905125"/>
            <a:ext cx="2867323" cy="9048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c7d96357c4f8a"/>
          <a:stretch xmlns:a="http://schemas.openxmlformats.org/drawingml/2006/main"/>
        </p:blipFill>
        <p:spPr>
          <a:xfrm xmlns:a="http://schemas.openxmlformats.org/drawingml/2006/main">
            <a:off x="5020296" y="2905125"/>
            <a:ext cx="1770408" cy="9048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edeab5f5c4ba5"/>
          <a:stretch xmlns:a="http://schemas.openxmlformats.org/drawingml/2006/main"/>
        </p:blipFill>
        <p:spPr>
          <a:xfrm xmlns:a="http://schemas.openxmlformats.org/drawingml/2006/main">
            <a:off x="8333225" y="2905125"/>
            <a:ext cx="2955051" cy="904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9A1AF-0315-41D7-9D39-9D55423C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对当前项目的直接启发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5359A-0374-4C14-A629-A16CA11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时间、费用、步行、换乘必须先变到同一尺度</a:t>
            </a:r>
          </a:p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学习阶段和路线评价阶段必须使用相同属性定义</a:t>
            </a:r>
          </a:p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权重非负且总和为 1，才能解释为四项重要程度</a:t>
            </a:r>
          </a:p>
        </p:txBody>
      </p:sp>
    </p:spTree>
    <p:extLst>
      <p:ext uri="{BB962C8B-B14F-4D97-AF65-F5344CB8AC3E}">
        <p14:creationId xmlns:p14="http://schemas.microsoft.com/office/powerpoint/2010/main" val="304617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C73C77A-BCD2-4415-8E7E-1FFDBE33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25号论文：画像敏感性直接改变推荐目标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81CD-6CD8-44F2-9B72-3C42EFA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4244F-FA07-471F-A0AC-36DC192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6E9DF-FE50-47D6-89D8-AFFCB3F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383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73006-422A-4351-8A70-3FA15B3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383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1329F-FA71-42DC-BEDF-9D89C0C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7AAF0-D049-4408-8B02-9D7A08B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历史订单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7E451-D4F6-4FE5-9B94-FFCA0FC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TF-IDF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偏好得分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2FA62-6242-431A-95DA-AAA1A9D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K-means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敏感类型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DA2D5-D38A-49A7-8F5B-C4AA526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28750"/>
            <a:ext cx="195262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Q-learning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推荐方案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06d2cdff94fa9"/>
          <a:stretch xmlns:a="http://schemas.openxmlformats.org/drawingml/2006/main"/>
        </p:blipFill>
        <p:spPr>
          <a:xfrm xmlns:a="http://schemas.openxmlformats.org/drawingml/2006/main">
            <a:off x="1047750" y="3098461"/>
            <a:ext cx="4572000" cy="661079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d7d01a27e4cb4"/>
          <a:stretch xmlns:a="http://schemas.openxmlformats.org/drawingml/2006/main"/>
        </p:blipFill>
        <p:spPr>
          <a:xfrm xmlns:a="http://schemas.openxmlformats.org/drawingml/2006/main">
            <a:off x="6667500" y="3181324"/>
            <a:ext cx="3810000" cy="49535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90EC1-5835-4258-8BBC-FA55B044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价格敏感：费用系数 0.8</a:t>
            </a:r>
          </a:p>
          <a:p xmlns:a="http://schemas.openxmlformats.org/drawingml/2006/main">
            <a:pPr algn="ctr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时间敏感：时间系数 0.8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FB770-A433-47E7-A3E4-36E405B1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项目只借鉴“敏感性进入推荐目标”的思想，没有照搬 TF-IDF、K-means 和 Q-learning。</a:t>
            </a:r>
          </a:p>
        </p:txBody>
      </p:sp>
    </p:spTree>
    <p:extLst>
      <p:ext uri="{BB962C8B-B14F-4D97-AF65-F5344CB8AC3E}">
        <p14:creationId xmlns:p14="http://schemas.microsoft.com/office/powerpoint/2010/main" val="718989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35ABF5B-523B-4D7A-8D49-1FF9BC5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当前第一版只保留最核心、可验证的部分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CBC88-B4FB-4CF8-BBF7-363D03B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E6FD8-D820-4630-8963-7B35988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8A4CE-46E3-4BD8-B5ED-12D7F5A2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FAVOUR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32AB9-F443-43DC-B5AE-E7238D76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2FF23-7821-4E03-A76E-2F813AF0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069A1-2597-4DB8-BC56-52C4F6A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成对路线选择 + Logit 选择模型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E3350-18AE-4760-B5DB-D27AB83C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Preference-Aware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FCDC1-125A-402B-A035-AF8042E3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9E25C-E024-484D-BCA8-31951D1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76E18-E2EF-4545-9634-615648F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归一化 + 权重非负且总和为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5BC9C-B0E1-4EA7-8F59-C97CFF31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25号中文论文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E1CDC-55AC-49D6-AC88-62E074C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97BF0-B8D1-4A73-AA94-EF59E127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2900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50C2F-19A4-46BC-970C-A7F79F0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04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把时间、费用等代价敏感度解释为画像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DEFFF-14C1-43BD-B90A-61AADC18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DA99C-4540-4EF2-BEBD-E68AED8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输出长期基础偏好：w = (w时间，w费用，w步行，w换乘)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23EEC-7F77-4282-8A6B-CD6D38CA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6B6B"/>
                </a:solidFill>
              </a:defRPr>
            </a:pPr>
            <a:r>
              <a:rPr sz="1350" b="0">
                <a:solidFill>
                  <a:srgbClr val="6B6B6B"/>
                </a:solidFill>
              </a:rPr>
              <a:t>当前不包含：真实路线生成、一次出行情境、实时环境、画像存储和最终路线排序</a:t>
            </a:r>
          </a:p>
        </p:txBody>
      </p:sp>
    </p:spTree>
    <p:extLst>
      <p:ext uri="{BB962C8B-B14F-4D97-AF65-F5344CB8AC3E}">
        <p14:creationId xmlns:p14="http://schemas.microsoft.com/office/powerpoint/2010/main" val="7079513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5F84F83-87A2-4C51-94AB-9A0099DE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CodeGraph确认：交互程序使用的是真实学习器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3197D-D566-4635-B8AB-1A4E0B9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74E69-E79A-44A1-BC20-FF572CF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47590-18DB-4BC7-BFAB-2E0A37F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288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32686-E9E0-405C-B089-4F229525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81230-2F25-48D4-B669-0E2C903C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1E467-C492-4B6F-BC85-37531689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288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59B57-6DF3-442B-AE63-A5A990DC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809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设计6组题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_comparison_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scenarios()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demo.py:62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FCCDD-B201-46C3-BA59-17679AB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24000"/>
            <a:ext cx="1809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收集 A / B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_ask_preference()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demo.py:112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763E-ED86-4547-8D93-84D1049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24000"/>
            <a:ext cx="1809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形成选择证据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PairwisePreference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5772-08E6-4CCA-9B7E-D9608AF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524000"/>
            <a:ext cx="1809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反推权重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learner.fit()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learner.py:72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E5EC5-8E2C-4EB0-A294-2270116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809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输出百分比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_print_result()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demo.py:138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5D6E0-4D62-403F-A71F-8C06F0B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71875"/>
            <a:ext cx="7524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937EF-BD09-4406-9A78-70473B7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learner.fit() 内部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BD0DF-2213-43C6-9DE3-EF5BCEC0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归一化 chosen / rejected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C7B5-ECC4-40E9-B6A9-EE2AAF4D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624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A6336-B5EB-498F-BCEE-3ACA196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05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构造差向量 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6BE0A-72B0-4276-991C-533BB48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C41BB-E7EF-466D-A3A3-B4A0CE0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sigmoid / softplus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5E30C-242A-422A-AC59-C93DF9E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0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最后投影到：wᵢ ≥ 0，Σwᵢ =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B6F52-E6AB-4966-8FA5-D033DA3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交互程序没有复制另一套算法，用户选择会进入 src/profile 中的正式实现。</a:t>
            </a:r>
          </a:p>
        </p:txBody>
      </p:sp>
    </p:spTree>
    <p:extLst>
      <p:ext uri="{BB962C8B-B14F-4D97-AF65-F5344CB8AC3E}">
        <p14:creationId xmlns:p14="http://schemas.microsoft.com/office/powerpoint/2010/main" val="2034812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ED6D30B-6346-4386-B1E5-3687285A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核心算法：把每次选择变成可优化的差向量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2711C-0C16-4497-9557-2E19C5F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5599C-F9A8-43D8-8204-2B85D540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1C49-D96D-400E-ACBE-52C4CB7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6007F-6416-4838-B97C-E560E901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496B2-2A02-436E-899F-41FC75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9BF3E-39DC-4E9B-82C8-7F5C37C5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① 统一尺度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AE6D9-CE0B-4F46-9F4E-4BB2B06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3F6FA-7B82-4869-B8B1-7F98D31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② 构造差值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5CB1B-1ED0-4697-A189-0785F51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AE346-9D09-4D8E-A28C-1A9F2C0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③ 计算选择概率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0992A-7BC3-4EC5-9E16-0E452310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BAFD9-C5BE-4F78-9652-286BB138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④ 约束并优化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89423-E4B1-42E8-8FB6-AE890618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112a329554083"/>
          <a:stretch xmlns:a="http://schemas.openxmlformats.org/drawingml/2006/main"/>
        </p:blipFill>
        <p:spPr>
          <a:xfrm xmlns:a="http://schemas.openxmlformats.org/drawingml/2006/main">
            <a:off x="895350" y="2472104"/>
            <a:ext cx="1828800" cy="351692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6292155cd4a9a"/>
          <a:stretch xmlns:a="http://schemas.openxmlformats.org/drawingml/2006/main"/>
        </p:blipFill>
        <p:spPr>
          <a:xfrm xmlns:a="http://schemas.openxmlformats.org/drawingml/2006/main">
            <a:off x="3733800" y="2518304"/>
            <a:ext cx="1866900" cy="259292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f431b99c941c7"/>
          <a:stretch xmlns:a="http://schemas.openxmlformats.org/drawingml/2006/main"/>
        </p:blipFill>
        <p:spPr>
          <a:xfrm xmlns:a="http://schemas.openxmlformats.org/drawingml/2006/main">
            <a:off x="6572250" y="2542410"/>
            <a:ext cx="1905000" cy="21108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e687f128a4df1"/>
          <a:stretch xmlns:a="http://schemas.openxmlformats.org/drawingml/2006/main"/>
        </p:blipFill>
        <p:spPr>
          <a:xfrm xmlns:a="http://schemas.openxmlformats.org/drawingml/2006/main">
            <a:off x="9477375" y="2421731"/>
            <a:ext cx="1809750" cy="452438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F0886-51AA-4D71-A07F-64EEC30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分钟、元、米、次数</a:t>
            </a:r>
          </a:p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先转为 [0,1]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D3CDD-EA05-4B74-AB65-DE37F2D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未选路线 − 已选路线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42F45-218D-4FA7-A279-6531CB2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让模型尽量解释</a:t>
            </a:r>
          </a:p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用户全部选择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1D15B-19CE-4D0C-808E-B02A91F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投影梯度下降</a:t>
            </a:r>
          </a:p>
          <a:p xmlns:a="http://schemas.openxmlformats.org/drawingml/2006/main">
            <a:pPr algn="ctr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得到四项百分比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55E84-C4FF-48E0-87F0-62DADEDE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F4288-89B4-4490-9083-CCBB555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例：用户多次选择“更便宜但更慢”的路线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→ 费用差对选择的解释更强 → 费用权重提高</a:t>
            </a:r>
          </a:p>
        </p:txBody>
      </p:sp>
    </p:spTree>
    <p:extLst>
      <p:ext uri="{BB962C8B-B14F-4D97-AF65-F5344CB8AC3E}">
        <p14:creationId xmlns:p14="http://schemas.microsoft.com/office/powerpoint/2010/main" val="1504902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0222A66-2042-4250-9953-0E78FA4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验证结果：费用敏感选择得到最高费用权重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24233-4677-410A-AFB9-294A591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E0D67-624B-4A68-B50E-218A0D66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FE39-236E-4343-9658-A7E91E8A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交互输入：B、A、A、A、A、A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D5DCE-7E5E-4448-8F4B-A87BB446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3B034-0520-4B5C-86B8-43DE97F0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29.19%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AA824-52B8-41A7-B058-8B941BA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费用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5526-4A33-44E1-9B9A-CFC58C9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38.14%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C0E25-0FDF-45EE-B73C-8C0B61E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步行距离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E4CFD-E4D6-4D15-A068-741CEA05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23.44%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B71B5-77B8-4170-8857-08251FC0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换乘次数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A53DD-67D1-49E6-9676-CB3C8F8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9.23%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DD97E-FEDF-4F46-BDB9-7DADF12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当前最敏感指标：费用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AD9D1-EE9F-4888-94B5-AA8C955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429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52A3A-077D-48BE-9B99-DF1A82F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逻辑验证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179E2-9BA4-497F-BD76-E80B32F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2 项端到端测试全部通过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费用敏感选择 → 费用成为最高权重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• 全部跳过 → 四项均为 25%，可信度为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20794-B020-4FDD-9576-52D6C32E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第一版已经形成闭环：设计路线 → 收集选择 → 反推长期偏好权重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55B3B-71F2-4E10-B062-C42C5F2B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下一步：用真实候选路线分布校准归一化尺度，再接入路线排序。</a:t>
            </a:r>
          </a:p>
        </p:txBody>
      </p:sp>
    </p:spTree>
    <p:extLst>
      <p:ext uri="{BB962C8B-B14F-4D97-AF65-F5344CB8AC3E}">
        <p14:creationId xmlns:p14="http://schemas.microsoft.com/office/powerpoint/2010/main" val="993159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2026-08-02T11:24:43.7340000Z</dcterms:created>
  <dcterms:modified xsi:type="dcterms:W3CDTF">2026-08-02T11:24:43.7340000Z</dcterms:modified>
</coreProperties>
</file>